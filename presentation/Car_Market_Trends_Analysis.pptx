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0" r:id="rId11"/>
    <p:sldId id="341" r:id="rId12"/>
    <p:sldId id="342" r:id="rId13"/>
    <p:sldId id="343"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096" autoAdjust="0"/>
    <p:restoredTop sz="95033" autoAdjust="0"/>
  </p:normalViewPr>
  <p:slideViewPr>
    <p:cSldViewPr snapToGrid="0">
      <p:cViewPr varScale="1">
        <p:scale>
          <a:sx n="73" d="100"/>
          <a:sy n="73" d="100"/>
        </p:scale>
        <p:origin x="132"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8/30/2026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8/30/2026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8/30/2026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8/30/2026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Mubasheermohd18/car-market-trends-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ubasheermohd18/car-market-trends-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277394" y="3655498"/>
            <a:ext cx="5181600" cy="861497"/>
          </a:xfrm>
        </p:spPr>
        <p:txBody>
          <a:bodyPr/>
          <a:lstStyle/>
          <a:p>
            <a:pPr algn="r"/>
            <a:r>
              <a:rPr lang="en-US" b="0" dirty="0">
                <a:solidFill>
                  <a:schemeClr val="tx1"/>
                </a:solidFill>
              </a:rPr>
              <a:t>Student Name: Mohammed Mubasheeruddin</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277394" y="2050552"/>
            <a:ext cx="6914606" cy="1176049"/>
          </a:xfrm>
        </p:spPr>
        <p:txBody>
          <a:bodyPr>
            <a:normAutofit/>
          </a:bodyPr>
          <a:lstStyle/>
          <a:p>
            <a:r>
              <a:rPr lang="en-GB" sz="3200" dirty="0"/>
              <a:t>Project Title - </a:t>
            </a:r>
            <a:r>
              <a:rPr lang="en-US" sz="3200" dirty="0"/>
              <a:t>Car Market Trends Analysis with </a:t>
            </a:r>
            <a:r>
              <a:rPr lang="en-US" sz="3200" dirty="0" err="1"/>
              <a:t>CarDekho</a:t>
            </a:r>
            <a:r>
              <a:rPr lang="en-US" sz="3200" dirty="0"/>
              <a:t> Data</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277394" y="3224749"/>
            <a:ext cx="5181600" cy="369332"/>
          </a:xfrm>
          <a:prstGeom prst="rect">
            <a:avLst/>
          </a:prstGeom>
          <a:noFill/>
        </p:spPr>
        <p:txBody>
          <a:bodyPr wrap="square" rtlCol="0">
            <a:spAutoFit/>
          </a:bodyPr>
          <a:lstStyle/>
          <a:p>
            <a:r>
              <a:rPr lang="en-US" b="1" dirty="0"/>
              <a:t>AICTE STU ID : </a:t>
            </a:r>
            <a:r>
              <a:rPr lang="en-IN" dirty="0"/>
              <a:t>STU6a13f8dd3f0c81779693789</a:t>
            </a:r>
            <a:r>
              <a:rPr lang="en-US" b="1" dirty="0"/>
              <a:t>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91027" y="2102230"/>
            <a:ext cx="7522754" cy="3607987"/>
          </a:xfrm>
        </p:spPr>
        <p:txBody>
          <a:bodyPr>
            <a:normAutofit/>
          </a:bodyPr>
          <a:lstStyle/>
          <a:p>
            <a:pPr algn="just"/>
            <a:r>
              <a:rPr lang="en-US" sz="1800" dirty="0"/>
              <a:t>The used-car market contains vehicles with different prices, models, manufacturing years, fuel types, transmission types, and usage levels. It can be difficult for buyers and sellers to understand which factors influence the selling price of a used car.</a:t>
            </a:r>
          </a:p>
          <a:p>
            <a:pPr algn="just"/>
            <a:r>
              <a:rPr lang="en-US" sz="1800" dirty="0"/>
              <a:t>This project aims to </a:t>
            </a:r>
            <a:r>
              <a:rPr lang="en-US" sz="1800" b="1" dirty="0"/>
              <a:t>analyze </a:t>
            </a:r>
            <a:r>
              <a:rPr lang="en-US" sz="1800" b="1" dirty="0" err="1"/>
              <a:t>CarDekho</a:t>
            </a:r>
            <a:r>
              <a:rPr lang="en-US" sz="1800" b="1" dirty="0"/>
              <a:t> car-market data using Python</a:t>
            </a:r>
            <a:r>
              <a:rPr lang="en-US" sz="1800" dirty="0"/>
              <a:t> to identify important pricing patterns and market trends. The analysis focuses on factors such as </a:t>
            </a:r>
            <a:r>
              <a:rPr lang="en-US" sz="1800" b="1" dirty="0"/>
              <a:t>present price, manufacturing year, kilometers driven, fuel type, seller type, transmission, and previous ownership</a:t>
            </a:r>
            <a:r>
              <a:rPr lang="en-US" sz="1800" dirty="0"/>
              <a:t> to understand their relationship with the selling price.</a:t>
            </a:r>
          </a:p>
          <a:p>
            <a:pPr algn="just">
              <a:lnSpc>
                <a:spcPct val="150000"/>
              </a:lnSpc>
            </a:pPr>
            <a:endParaRPr lang="en-IN" sz="1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1312119"/>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336804" y="3304031"/>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73016" y="1358703"/>
            <a:ext cx="7987212" cy="768137"/>
          </a:xfrm>
        </p:spPr>
        <p:txBody>
          <a:bodyPr>
            <a:noAutofit/>
          </a:bodyPr>
          <a:lstStyle/>
          <a:p>
            <a:r>
              <a:rPr lang="en-GB" sz="4300" dirty="0"/>
              <a:t>Project Description</a:t>
            </a:r>
            <a:br>
              <a:rPr lang="en-GB" sz="4300" dirty="0"/>
            </a:br>
            <a:br>
              <a:rPr lang="en-GB" sz="200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6672DED4-6F75-BA3E-7D77-D0D275A58FDC}"/>
              </a:ext>
            </a:extLst>
          </p:cNvPr>
          <p:cNvSpPr txBox="1"/>
          <p:nvPr/>
        </p:nvSpPr>
        <p:spPr>
          <a:xfrm>
            <a:off x="373016" y="2126840"/>
            <a:ext cx="8058332" cy="3139321"/>
          </a:xfrm>
          <a:prstGeom prst="rect">
            <a:avLst/>
          </a:prstGeom>
          <a:noFill/>
        </p:spPr>
        <p:txBody>
          <a:bodyPr wrap="square" rtlCol="0">
            <a:spAutoFit/>
          </a:bodyPr>
          <a:lstStyle/>
          <a:p>
            <a:pPr algn="just"/>
            <a:r>
              <a:rPr lang="en-US" dirty="0"/>
              <a:t>This project aims to analyze </a:t>
            </a:r>
            <a:r>
              <a:rPr lang="en-US" dirty="0" err="1"/>
              <a:t>CarDekho</a:t>
            </a:r>
            <a:r>
              <a:rPr lang="en-US" dirty="0"/>
              <a:t> used-car data and get an in-depth knowledge of the trends in the used-car market. It's a dataset with car model information, year of production, selling price, current price, kilometers, fuel type, type of seller, transmission and used car or not. The data is then analyzed and graphed using Python, Pandas, Matplotlib, and Seaborn to look for trends in car prices. The project compares the different types of vehicles and investigates the relationship between car age, current price, fuel type, transmission, and </a:t>
            </a:r>
            <a:r>
              <a:rPr lang="en-US" dirty="0" err="1"/>
              <a:t>kilometres</a:t>
            </a:r>
            <a:r>
              <a:rPr lang="en-US" dirty="0"/>
              <a:t> driven and selling price. The analysis serves to comprehend the used-car pricing patterns and offers valuable insights for used-car buyers, sellers, dealers, and market analysts.</a:t>
            </a:r>
            <a:br>
              <a:rPr lang="en-GB" dirty="0"/>
            </a:b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991360"/>
            <a:ext cx="7904481" cy="3990023"/>
          </a:xfrm>
        </p:spPr>
        <p:txBody>
          <a:bodyPr>
            <a:normAutofit fontScale="85000" lnSpcReduction="20000"/>
          </a:bodyPr>
          <a:lstStyle/>
          <a:p>
            <a:r>
              <a:rPr lang="en-US" sz="1800" b="1" dirty="0"/>
              <a:t>1. Car Buyers</a:t>
            </a:r>
          </a:p>
          <a:p>
            <a:pPr marL="0" indent="0">
              <a:buNone/>
            </a:pPr>
            <a:r>
              <a:rPr lang="en-US" sz="1800" dirty="0"/>
              <a:t>	They can use the analysis to understand car prices and compare different vehicle 	options.</a:t>
            </a:r>
          </a:p>
          <a:p>
            <a:r>
              <a:rPr lang="en-US" sz="1800" b="1" dirty="0"/>
              <a:t>2. Car Sellers</a:t>
            </a:r>
          </a:p>
          <a:p>
            <a:pPr marL="0" indent="0">
              <a:buNone/>
            </a:pPr>
            <a:r>
              <a:rPr lang="en-US" sz="1800" dirty="0"/>
              <a:t>	They can understand how factors such as car age, model, fuel type, and usage 	relate to selling prices.</a:t>
            </a:r>
          </a:p>
          <a:p>
            <a:r>
              <a:rPr lang="en-US" sz="1800" b="1" dirty="0"/>
              <a:t>3. Car Dealers</a:t>
            </a:r>
          </a:p>
          <a:p>
            <a:pPr marL="0" indent="0">
              <a:buNone/>
            </a:pPr>
            <a:r>
              <a:rPr lang="en-US" sz="1800" dirty="0"/>
              <a:t>	Dealers can use market trends to support better vehicle buying and pricing 	decisions.</a:t>
            </a:r>
          </a:p>
          <a:p>
            <a:r>
              <a:rPr lang="en-US" sz="1800" b="1" dirty="0"/>
              <a:t>4. Market Analysts</a:t>
            </a:r>
          </a:p>
          <a:p>
            <a:pPr marL="0" indent="0">
              <a:buNone/>
            </a:pPr>
            <a:r>
              <a:rPr lang="en-US" sz="1800" dirty="0"/>
              <a:t>	They can use the analyzed data to study patterns and trends in the used-car 	market.</a:t>
            </a:r>
          </a:p>
          <a:p>
            <a:r>
              <a:rPr lang="en-US" sz="1800" b="1" dirty="0"/>
              <a:t>5. Online Car Platforms</a:t>
            </a:r>
          </a:p>
          <a:p>
            <a:pPr marL="0" indent="0">
              <a:buNone/>
            </a:pPr>
            <a:r>
              <a:rPr lang="en-US" sz="1800" dirty="0"/>
              <a:t>	Car-selling platforms can use similar analysis to improve price comparison and 	vehicle recommendations.</a:t>
            </a:r>
          </a:p>
          <a:p>
            <a:pPr marL="0" indent="0" algn="just">
              <a:lnSpc>
                <a:spcPct val="150000"/>
              </a:lnSpc>
              <a:buNone/>
            </a:pPr>
            <a:endParaRPr lang="en-IN" sz="1800" b="1"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1188719"/>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fade">
                                      <p:cBhvr>
                                        <p:cTn id="13" dur="1000"/>
                                        <p:tgtEl>
                                          <p:spTgt spid="2">
                                            <p:txEl>
                                              <p:pRg st="0" end="0"/>
                                            </p:txEl>
                                          </p:spTgt>
                                        </p:tgtEl>
                                      </p:cBhvr>
                                    </p:animEffect>
                                    <p:anim calcmode="lin" valueType="num">
                                      <p:cBhvr>
                                        <p:cTn id="14"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grpId="0" nodeType="after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fade">
                                      <p:cBhvr>
                                        <p:cTn id="25" dur="1000"/>
                                        <p:tgtEl>
                                          <p:spTgt spid="2">
                                            <p:txEl>
                                              <p:pRg st="2" end="2"/>
                                            </p:txEl>
                                          </p:spTgt>
                                        </p:tgtEl>
                                      </p:cBhvr>
                                    </p:animEffect>
                                    <p:anim calcmode="lin" valueType="num">
                                      <p:cBhvr>
                                        <p:cTn id="26"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2" presetClass="entr" presetSubtype="0" fill="hold" grpId="0" nodeType="after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fade">
                                      <p:cBhvr>
                                        <p:cTn id="31" dur="1000"/>
                                        <p:tgtEl>
                                          <p:spTgt spid="2">
                                            <p:txEl>
                                              <p:pRg st="3" end="3"/>
                                            </p:txEl>
                                          </p:spTgt>
                                        </p:tgtEl>
                                      </p:cBhvr>
                                    </p:animEffect>
                                    <p:anim calcmode="lin" valueType="num">
                                      <p:cBhvr>
                                        <p:cTn id="32"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par>
                          <p:cTn id="34" fill="hold">
                            <p:stCondLst>
                              <p:cond delay="4500"/>
                            </p:stCondLst>
                            <p:childTnLst>
                              <p:par>
                                <p:cTn id="35" presetID="42" presetClass="entr" presetSubtype="0" fill="hold" grpId="0" nodeType="after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Effect transition="in" filter="fade">
                                      <p:cBhvr>
                                        <p:cTn id="37" dur="1000"/>
                                        <p:tgtEl>
                                          <p:spTgt spid="2">
                                            <p:txEl>
                                              <p:pRg st="4" end="4"/>
                                            </p:txEl>
                                          </p:spTgt>
                                        </p:tgtEl>
                                      </p:cBhvr>
                                    </p:animEffect>
                                    <p:anim calcmode="lin" valueType="num">
                                      <p:cBhvr>
                                        <p:cTn id="3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par>
                          <p:cTn id="40" fill="hold">
                            <p:stCondLst>
                              <p:cond delay="5500"/>
                            </p:stCondLst>
                            <p:childTnLst>
                              <p:par>
                                <p:cTn id="41" presetID="42" presetClass="entr" presetSubtype="0" fill="hold" grpId="0" nodeType="afterEffect">
                                  <p:stCondLst>
                                    <p:cond delay="0"/>
                                  </p:stCondLst>
                                  <p:childTnLst>
                                    <p:set>
                                      <p:cBhvr>
                                        <p:cTn id="42" dur="1" fill="hold">
                                          <p:stCondLst>
                                            <p:cond delay="0"/>
                                          </p:stCondLst>
                                        </p:cTn>
                                        <p:tgtEl>
                                          <p:spTgt spid="2">
                                            <p:txEl>
                                              <p:pRg st="5" end="5"/>
                                            </p:txEl>
                                          </p:spTgt>
                                        </p:tgtEl>
                                        <p:attrNameLst>
                                          <p:attrName>style.visibility</p:attrName>
                                        </p:attrNameLst>
                                      </p:cBhvr>
                                      <p:to>
                                        <p:strVal val="visible"/>
                                      </p:to>
                                    </p:set>
                                    <p:animEffect transition="in" filter="fade">
                                      <p:cBhvr>
                                        <p:cTn id="43" dur="1000"/>
                                        <p:tgtEl>
                                          <p:spTgt spid="2">
                                            <p:txEl>
                                              <p:pRg st="5" end="5"/>
                                            </p:txEl>
                                          </p:spTgt>
                                        </p:tgtEl>
                                      </p:cBhvr>
                                    </p:animEffect>
                                    <p:anim calcmode="lin" valueType="num">
                                      <p:cBhvr>
                                        <p:cTn id="4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par>
                          <p:cTn id="46" fill="hold">
                            <p:stCondLst>
                              <p:cond delay="6500"/>
                            </p:stCondLst>
                            <p:childTnLst>
                              <p:par>
                                <p:cTn id="47" presetID="42" presetClass="entr" presetSubtype="0" fill="hold" grpId="0" nodeType="after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par>
                          <p:cTn id="52" fill="hold">
                            <p:stCondLst>
                              <p:cond delay="7500"/>
                            </p:stCondLst>
                            <p:childTnLst>
                              <p:par>
                                <p:cTn id="53" presetID="42" presetClass="entr" presetSubtype="0" fill="hold" grpId="0" nodeType="afterEffect">
                                  <p:stCondLst>
                                    <p:cond delay="0"/>
                                  </p:stCondLst>
                                  <p:childTnLst>
                                    <p:set>
                                      <p:cBhvr>
                                        <p:cTn id="54" dur="1" fill="hold">
                                          <p:stCondLst>
                                            <p:cond delay="0"/>
                                          </p:stCondLst>
                                        </p:cTn>
                                        <p:tgtEl>
                                          <p:spTgt spid="2">
                                            <p:txEl>
                                              <p:pRg st="7" end="7"/>
                                            </p:txEl>
                                          </p:spTgt>
                                        </p:tgtEl>
                                        <p:attrNameLst>
                                          <p:attrName>style.visibility</p:attrName>
                                        </p:attrNameLst>
                                      </p:cBhvr>
                                      <p:to>
                                        <p:strVal val="visible"/>
                                      </p:to>
                                    </p:set>
                                    <p:animEffect transition="in" filter="fade">
                                      <p:cBhvr>
                                        <p:cTn id="55" dur="1000"/>
                                        <p:tgtEl>
                                          <p:spTgt spid="2">
                                            <p:txEl>
                                              <p:pRg st="7" end="7"/>
                                            </p:txEl>
                                          </p:spTgt>
                                        </p:tgtEl>
                                      </p:cBhvr>
                                    </p:animEffect>
                                    <p:anim calcmode="lin" valueType="num">
                                      <p:cBhvr>
                                        <p:cTn id="56"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par>
                          <p:cTn id="58" fill="hold">
                            <p:stCondLst>
                              <p:cond delay="8500"/>
                            </p:stCondLst>
                            <p:childTnLst>
                              <p:par>
                                <p:cTn id="59" presetID="42" presetClass="entr" presetSubtype="0" fill="hold" grpId="0" nodeType="afterEffect">
                                  <p:stCondLst>
                                    <p:cond delay="0"/>
                                  </p:stCondLst>
                                  <p:childTnLst>
                                    <p:set>
                                      <p:cBhvr>
                                        <p:cTn id="60" dur="1" fill="hold">
                                          <p:stCondLst>
                                            <p:cond delay="0"/>
                                          </p:stCondLst>
                                        </p:cTn>
                                        <p:tgtEl>
                                          <p:spTgt spid="2">
                                            <p:txEl>
                                              <p:pRg st="8" end="8"/>
                                            </p:txEl>
                                          </p:spTgt>
                                        </p:tgtEl>
                                        <p:attrNameLst>
                                          <p:attrName>style.visibility</p:attrName>
                                        </p:attrNameLst>
                                      </p:cBhvr>
                                      <p:to>
                                        <p:strVal val="visible"/>
                                      </p:to>
                                    </p:set>
                                    <p:animEffect transition="in" filter="fade">
                                      <p:cBhvr>
                                        <p:cTn id="61" dur="1000"/>
                                        <p:tgtEl>
                                          <p:spTgt spid="2">
                                            <p:txEl>
                                              <p:pRg st="8" end="8"/>
                                            </p:txEl>
                                          </p:spTgt>
                                        </p:tgtEl>
                                      </p:cBhvr>
                                    </p:animEffect>
                                    <p:anim calcmode="lin" valueType="num">
                                      <p:cBhvr>
                                        <p:cTn id="62"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par>
                          <p:cTn id="64" fill="hold">
                            <p:stCondLst>
                              <p:cond delay="9500"/>
                            </p:stCondLst>
                            <p:childTnLst>
                              <p:par>
                                <p:cTn id="65" presetID="42" presetClass="entr" presetSubtype="0" fill="hold" grpId="0" nodeType="afterEffect">
                                  <p:stCondLst>
                                    <p:cond delay="0"/>
                                  </p:stCondLst>
                                  <p:childTnLst>
                                    <p:set>
                                      <p:cBhvr>
                                        <p:cTn id="66" dur="1" fill="hold">
                                          <p:stCondLst>
                                            <p:cond delay="0"/>
                                          </p:stCondLst>
                                        </p:cTn>
                                        <p:tgtEl>
                                          <p:spTgt spid="2">
                                            <p:txEl>
                                              <p:pRg st="9" end="9"/>
                                            </p:txEl>
                                          </p:spTgt>
                                        </p:tgtEl>
                                        <p:attrNameLst>
                                          <p:attrName>style.visibility</p:attrName>
                                        </p:attrNameLst>
                                      </p:cBhvr>
                                      <p:to>
                                        <p:strVal val="visible"/>
                                      </p:to>
                                    </p:set>
                                    <p:animEffect transition="in" filter="fade">
                                      <p:cBhvr>
                                        <p:cTn id="67" dur="1000"/>
                                        <p:tgtEl>
                                          <p:spTgt spid="2">
                                            <p:txEl>
                                              <p:pRg st="9" end="9"/>
                                            </p:txEl>
                                          </p:spTgt>
                                        </p:tgtEl>
                                      </p:cBhvr>
                                    </p:animEffect>
                                    <p:anim calcmode="lin" valueType="num">
                                      <p:cBhvr>
                                        <p:cTn id="6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6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2839" y="1246961"/>
            <a:ext cx="9027702" cy="5243448"/>
          </a:xfrm>
        </p:spPr>
        <p:txBody>
          <a:bodyPr>
            <a:noAutofit/>
          </a:bodyPr>
          <a:lstStyle/>
          <a:p>
            <a:pPr>
              <a:lnSpc>
                <a:spcPct val="100000"/>
              </a:lnSpc>
              <a:spcBef>
                <a:spcPts val="500"/>
              </a:spcBef>
            </a:pPr>
            <a:r>
              <a:rPr lang="en-US" sz="1600" b="1" dirty="0"/>
              <a:t>Python</a:t>
            </a:r>
          </a:p>
          <a:p>
            <a:pPr marL="0" indent="0">
              <a:lnSpc>
                <a:spcPct val="100000"/>
              </a:lnSpc>
              <a:spcBef>
                <a:spcPts val="500"/>
              </a:spcBef>
              <a:buNone/>
            </a:pPr>
            <a:r>
              <a:rPr lang="en-US" sz="1600" dirty="0"/>
              <a:t>	Used as the main programming language for data analysis.</a:t>
            </a:r>
          </a:p>
          <a:p>
            <a:pPr>
              <a:lnSpc>
                <a:spcPct val="100000"/>
              </a:lnSpc>
              <a:spcBef>
                <a:spcPts val="500"/>
              </a:spcBef>
            </a:pPr>
            <a:r>
              <a:rPr lang="en-US" sz="1600" b="1" dirty="0"/>
              <a:t>Pandas</a:t>
            </a:r>
          </a:p>
          <a:p>
            <a:pPr marL="0" indent="0">
              <a:lnSpc>
                <a:spcPct val="100000"/>
              </a:lnSpc>
              <a:spcBef>
                <a:spcPts val="500"/>
              </a:spcBef>
              <a:buNone/>
            </a:pPr>
            <a:r>
              <a:rPr lang="en-US" sz="1600" dirty="0"/>
              <a:t>	Used for loading, cleaning, organizing, and analyzing the </a:t>
            </a:r>
            <a:r>
              <a:rPr lang="en-US" sz="1600" dirty="0" err="1"/>
              <a:t>CarDekho</a:t>
            </a:r>
            <a:r>
              <a:rPr lang="en-US" sz="1600" dirty="0"/>
              <a:t> dataset.</a:t>
            </a:r>
          </a:p>
          <a:p>
            <a:pPr>
              <a:lnSpc>
                <a:spcPct val="100000"/>
              </a:lnSpc>
              <a:spcBef>
                <a:spcPts val="500"/>
              </a:spcBef>
            </a:pPr>
            <a:r>
              <a:rPr lang="en-US" sz="1600" b="1" dirty="0"/>
              <a:t>NumPy</a:t>
            </a:r>
          </a:p>
          <a:p>
            <a:pPr marL="0" indent="0">
              <a:lnSpc>
                <a:spcPct val="100000"/>
              </a:lnSpc>
              <a:spcBef>
                <a:spcPts val="500"/>
              </a:spcBef>
              <a:buNone/>
            </a:pPr>
            <a:r>
              <a:rPr lang="en-US" sz="1600" dirty="0"/>
              <a:t>	Used for numerical calculations and data processing.</a:t>
            </a:r>
          </a:p>
          <a:p>
            <a:pPr>
              <a:lnSpc>
                <a:spcPct val="100000"/>
              </a:lnSpc>
              <a:spcBef>
                <a:spcPts val="500"/>
              </a:spcBef>
            </a:pPr>
            <a:r>
              <a:rPr lang="en-US" sz="1600" b="1" dirty="0"/>
              <a:t>Matplotlib</a:t>
            </a:r>
          </a:p>
          <a:p>
            <a:pPr marL="0" indent="0">
              <a:lnSpc>
                <a:spcPct val="100000"/>
              </a:lnSpc>
              <a:spcBef>
                <a:spcPts val="500"/>
              </a:spcBef>
              <a:buNone/>
            </a:pPr>
            <a:r>
              <a:rPr lang="en-US" sz="1600" dirty="0"/>
              <a:t>	Used to create charts and graphs for visualizing car-market trends.</a:t>
            </a:r>
          </a:p>
          <a:p>
            <a:pPr>
              <a:lnSpc>
                <a:spcPct val="100000"/>
              </a:lnSpc>
              <a:spcBef>
                <a:spcPts val="500"/>
              </a:spcBef>
            </a:pPr>
            <a:r>
              <a:rPr lang="en-US" sz="1600" b="1" dirty="0"/>
              <a:t>Seaborn</a:t>
            </a:r>
          </a:p>
          <a:p>
            <a:pPr marL="0" indent="0">
              <a:lnSpc>
                <a:spcPct val="100000"/>
              </a:lnSpc>
              <a:spcBef>
                <a:spcPts val="500"/>
              </a:spcBef>
              <a:buNone/>
            </a:pPr>
            <a:r>
              <a:rPr lang="en-US" sz="1600" dirty="0"/>
              <a:t>	Used to create statistical visualizations such as correlation heatmaps and regression plots.</a:t>
            </a:r>
          </a:p>
          <a:p>
            <a:pPr>
              <a:lnSpc>
                <a:spcPct val="100000"/>
              </a:lnSpc>
              <a:spcBef>
                <a:spcPts val="500"/>
              </a:spcBef>
            </a:pPr>
            <a:r>
              <a:rPr lang="en-US" sz="1600" b="1" dirty="0"/>
              <a:t>Google </a:t>
            </a:r>
            <a:r>
              <a:rPr lang="en-US" sz="1600" b="1" dirty="0" err="1"/>
              <a:t>Colab</a:t>
            </a:r>
            <a:br>
              <a:rPr lang="en-US" sz="1600" dirty="0"/>
            </a:br>
            <a:r>
              <a:rPr lang="en-US" sz="1600" dirty="0"/>
              <a:t>	Used as the cloud-based environment to write and execute Python code.</a:t>
            </a:r>
          </a:p>
          <a:p>
            <a:pPr>
              <a:lnSpc>
                <a:spcPct val="100000"/>
              </a:lnSpc>
              <a:spcBef>
                <a:spcPts val="500"/>
              </a:spcBef>
            </a:pPr>
            <a:r>
              <a:rPr lang="en-US" sz="1600" b="1" dirty="0"/>
              <a:t>CSV Dataset</a:t>
            </a:r>
          </a:p>
          <a:p>
            <a:pPr marL="0" indent="0">
              <a:lnSpc>
                <a:spcPct val="100000"/>
              </a:lnSpc>
              <a:spcBef>
                <a:spcPts val="500"/>
              </a:spcBef>
              <a:buNone/>
            </a:pPr>
            <a:r>
              <a:rPr lang="en-US" sz="1600" dirty="0"/>
              <a:t>	</a:t>
            </a:r>
            <a:r>
              <a:rPr lang="en-US" sz="1600" dirty="0" err="1"/>
              <a:t>CarDekho</a:t>
            </a:r>
            <a:r>
              <a:rPr lang="en-US" sz="1600" dirty="0"/>
              <a:t> used-car data is used as the source dataset for the analysis.</a:t>
            </a:r>
          </a:p>
          <a:p>
            <a:pPr lvl="1"/>
            <a:endParaRPr lang="en-IN" sz="16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1000"/>
                                        <p:tgtEl>
                                          <p:spTgt spid="7">
                                            <p:txEl>
                                              <p:pRg st="0" end="0"/>
                                            </p:txEl>
                                          </p:spTgt>
                                        </p:tgtEl>
                                      </p:cBhvr>
                                    </p:animEffect>
                                    <p:anim calcmode="lin" valueType="num">
                                      <p:cBhvr>
                                        <p:cTn id="14"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grpId="0" nodeType="after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000"/>
                                        <p:tgtEl>
                                          <p:spTgt spid="7">
                                            <p:txEl>
                                              <p:pRg st="2" end="2"/>
                                            </p:txEl>
                                          </p:spTgt>
                                        </p:tgtEl>
                                      </p:cBhvr>
                                    </p:animEffect>
                                    <p:anim calcmode="lin" valueType="num">
                                      <p:cBhvr>
                                        <p:cTn id="26"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42" presetClass="entr" presetSubtype="0" fill="hold" grpId="0" nodeType="after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1000"/>
                                        <p:tgtEl>
                                          <p:spTgt spid="7">
                                            <p:txEl>
                                              <p:pRg st="3" end="3"/>
                                            </p:txEl>
                                          </p:spTgt>
                                        </p:tgtEl>
                                      </p:cBhvr>
                                    </p:animEffect>
                                    <p:anim calcmode="lin" valueType="num">
                                      <p:cBhvr>
                                        <p:cTn id="3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par>
                          <p:cTn id="34" fill="hold">
                            <p:stCondLst>
                              <p:cond delay="4500"/>
                            </p:stCondLst>
                            <p:childTnLst>
                              <p:par>
                                <p:cTn id="35" presetID="42" presetClass="entr" presetSubtype="0" fill="hold" grpId="0" nodeType="after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fade">
                                      <p:cBhvr>
                                        <p:cTn id="37" dur="1000"/>
                                        <p:tgtEl>
                                          <p:spTgt spid="7">
                                            <p:txEl>
                                              <p:pRg st="4" end="4"/>
                                            </p:txEl>
                                          </p:spTgt>
                                        </p:tgtEl>
                                      </p:cBhvr>
                                    </p:animEffect>
                                    <p:anim calcmode="lin" valueType="num">
                                      <p:cBhvr>
                                        <p:cTn id="3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par>
                          <p:cTn id="40" fill="hold">
                            <p:stCondLst>
                              <p:cond delay="5500"/>
                            </p:stCondLst>
                            <p:childTnLst>
                              <p:par>
                                <p:cTn id="41" presetID="42" presetClass="entr" presetSubtype="0" fill="hold" grpId="0" nodeType="after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animEffect transition="in" filter="fade">
                                      <p:cBhvr>
                                        <p:cTn id="43" dur="1000"/>
                                        <p:tgtEl>
                                          <p:spTgt spid="7">
                                            <p:txEl>
                                              <p:pRg st="5" end="5"/>
                                            </p:txEl>
                                          </p:spTgt>
                                        </p:tgtEl>
                                      </p:cBhvr>
                                    </p:animEffect>
                                    <p:anim calcmode="lin" valueType="num">
                                      <p:cBhvr>
                                        <p:cTn id="44"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par>
                          <p:cTn id="46" fill="hold">
                            <p:stCondLst>
                              <p:cond delay="6500"/>
                            </p:stCondLst>
                            <p:childTnLst>
                              <p:par>
                                <p:cTn id="47" presetID="42" presetClass="entr" presetSubtype="0" fill="hold" grpId="0" nodeType="after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par>
                          <p:cTn id="52" fill="hold">
                            <p:stCondLst>
                              <p:cond delay="7500"/>
                            </p:stCondLst>
                            <p:childTnLst>
                              <p:par>
                                <p:cTn id="53" presetID="42" presetClass="entr" presetSubtype="0" fill="hold" grpId="0" nodeType="afterEffect">
                                  <p:stCondLst>
                                    <p:cond delay="0"/>
                                  </p:stCondLst>
                                  <p:childTnLst>
                                    <p:set>
                                      <p:cBhvr>
                                        <p:cTn id="54" dur="1" fill="hold">
                                          <p:stCondLst>
                                            <p:cond delay="0"/>
                                          </p:stCondLst>
                                        </p:cTn>
                                        <p:tgtEl>
                                          <p:spTgt spid="7">
                                            <p:txEl>
                                              <p:pRg st="7" end="7"/>
                                            </p:txEl>
                                          </p:spTgt>
                                        </p:tgtEl>
                                        <p:attrNameLst>
                                          <p:attrName>style.visibility</p:attrName>
                                        </p:attrNameLst>
                                      </p:cBhvr>
                                      <p:to>
                                        <p:strVal val="visible"/>
                                      </p:to>
                                    </p:set>
                                    <p:animEffect transition="in" filter="fade">
                                      <p:cBhvr>
                                        <p:cTn id="55" dur="1000"/>
                                        <p:tgtEl>
                                          <p:spTgt spid="7">
                                            <p:txEl>
                                              <p:pRg st="7" end="7"/>
                                            </p:txEl>
                                          </p:spTgt>
                                        </p:tgtEl>
                                      </p:cBhvr>
                                    </p:animEffect>
                                    <p:anim calcmode="lin" valueType="num">
                                      <p:cBhvr>
                                        <p:cTn id="56"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par>
                          <p:cTn id="58" fill="hold">
                            <p:stCondLst>
                              <p:cond delay="8500"/>
                            </p:stCondLst>
                            <p:childTnLst>
                              <p:par>
                                <p:cTn id="59" presetID="42" presetClass="entr" presetSubtype="0" fill="hold" grpId="0" nodeType="afterEffect">
                                  <p:stCondLst>
                                    <p:cond delay="0"/>
                                  </p:stCondLst>
                                  <p:childTnLst>
                                    <p:set>
                                      <p:cBhvr>
                                        <p:cTn id="60" dur="1" fill="hold">
                                          <p:stCondLst>
                                            <p:cond delay="0"/>
                                          </p:stCondLst>
                                        </p:cTn>
                                        <p:tgtEl>
                                          <p:spTgt spid="7">
                                            <p:txEl>
                                              <p:pRg st="8" end="8"/>
                                            </p:txEl>
                                          </p:spTgt>
                                        </p:tgtEl>
                                        <p:attrNameLst>
                                          <p:attrName>style.visibility</p:attrName>
                                        </p:attrNameLst>
                                      </p:cBhvr>
                                      <p:to>
                                        <p:strVal val="visible"/>
                                      </p:to>
                                    </p:set>
                                    <p:animEffect transition="in" filter="fade">
                                      <p:cBhvr>
                                        <p:cTn id="61" dur="1000"/>
                                        <p:tgtEl>
                                          <p:spTgt spid="7">
                                            <p:txEl>
                                              <p:pRg st="8" end="8"/>
                                            </p:txEl>
                                          </p:spTgt>
                                        </p:tgtEl>
                                      </p:cBhvr>
                                    </p:animEffect>
                                    <p:anim calcmode="lin" valueType="num">
                                      <p:cBhvr>
                                        <p:cTn id="62"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par>
                          <p:cTn id="64" fill="hold">
                            <p:stCondLst>
                              <p:cond delay="9500"/>
                            </p:stCondLst>
                            <p:childTnLst>
                              <p:par>
                                <p:cTn id="65" presetID="42" presetClass="entr" presetSubtype="0" fill="hold" grpId="0" nodeType="afterEffect">
                                  <p:stCondLst>
                                    <p:cond delay="0"/>
                                  </p:stCondLst>
                                  <p:childTnLst>
                                    <p:set>
                                      <p:cBhvr>
                                        <p:cTn id="66" dur="1" fill="hold">
                                          <p:stCondLst>
                                            <p:cond delay="0"/>
                                          </p:stCondLst>
                                        </p:cTn>
                                        <p:tgtEl>
                                          <p:spTgt spid="7">
                                            <p:txEl>
                                              <p:pRg st="9" end="9"/>
                                            </p:txEl>
                                          </p:spTgt>
                                        </p:tgtEl>
                                        <p:attrNameLst>
                                          <p:attrName>style.visibility</p:attrName>
                                        </p:attrNameLst>
                                      </p:cBhvr>
                                      <p:to>
                                        <p:strVal val="visible"/>
                                      </p:to>
                                    </p:set>
                                    <p:animEffect transition="in" filter="fade">
                                      <p:cBhvr>
                                        <p:cTn id="67" dur="1000"/>
                                        <p:tgtEl>
                                          <p:spTgt spid="7">
                                            <p:txEl>
                                              <p:pRg st="9" end="9"/>
                                            </p:txEl>
                                          </p:spTgt>
                                        </p:tgtEl>
                                      </p:cBhvr>
                                    </p:animEffect>
                                    <p:anim calcmode="lin" valueType="num">
                                      <p:cBhvr>
                                        <p:cTn id="6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par>
                          <p:cTn id="70" fill="hold">
                            <p:stCondLst>
                              <p:cond delay="10500"/>
                            </p:stCondLst>
                            <p:childTnLst>
                              <p:par>
                                <p:cTn id="71" presetID="42" presetClass="entr" presetSubtype="0" fill="hold" grpId="0" nodeType="afterEffect">
                                  <p:stCondLst>
                                    <p:cond delay="0"/>
                                  </p:stCondLst>
                                  <p:childTnLst>
                                    <p:set>
                                      <p:cBhvr>
                                        <p:cTn id="72" dur="1" fill="hold">
                                          <p:stCondLst>
                                            <p:cond delay="0"/>
                                          </p:stCondLst>
                                        </p:cTn>
                                        <p:tgtEl>
                                          <p:spTgt spid="7">
                                            <p:txEl>
                                              <p:pRg st="10" end="10"/>
                                            </p:txEl>
                                          </p:spTgt>
                                        </p:tgtEl>
                                        <p:attrNameLst>
                                          <p:attrName>style.visibility</p:attrName>
                                        </p:attrNameLst>
                                      </p:cBhvr>
                                      <p:to>
                                        <p:strVal val="visible"/>
                                      </p:to>
                                    </p:set>
                                    <p:animEffect transition="in" filter="fade">
                                      <p:cBhvr>
                                        <p:cTn id="73" dur="1000"/>
                                        <p:tgtEl>
                                          <p:spTgt spid="7">
                                            <p:txEl>
                                              <p:pRg st="10" end="10"/>
                                            </p:txEl>
                                          </p:spTgt>
                                        </p:tgtEl>
                                      </p:cBhvr>
                                    </p:animEffect>
                                    <p:anim calcmode="lin" valueType="num">
                                      <p:cBhvr>
                                        <p:cTn id="74"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75"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par>
                          <p:cTn id="76" fill="hold">
                            <p:stCondLst>
                              <p:cond delay="11500"/>
                            </p:stCondLst>
                            <p:childTnLst>
                              <p:par>
                                <p:cTn id="77" presetID="42" presetClass="entr" presetSubtype="0" fill="hold" grpId="0" nodeType="afterEffect">
                                  <p:stCondLst>
                                    <p:cond delay="0"/>
                                  </p:stCondLst>
                                  <p:childTnLst>
                                    <p:set>
                                      <p:cBhvr>
                                        <p:cTn id="78" dur="1" fill="hold">
                                          <p:stCondLst>
                                            <p:cond delay="0"/>
                                          </p:stCondLst>
                                        </p:cTn>
                                        <p:tgtEl>
                                          <p:spTgt spid="7">
                                            <p:txEl>
                                              <p:pRg st="11" end="11"/>
                                            </p:txEl>
                                          </p:spTgt>
                                        </p:tgtEl>
                                        <p:attrNameLst>
                                          <p:attrName>style.visibility</p:attrName>
                                        </p:attrNameLst>
                                      </p:cBhvr>
                                      <p:to>
                                        <p:strVal val="visible"/>
                                      </p:to>
                                    </p:set>
                                    <p:animEffect transition="in" filter="fade">
                                      <p:cBhvr>
                                        <p:cTn id="79" dur="1000"/>
                                        <p:tgtEl>
                                          <p:spTgt spid="7">
                                            <p:txEl>
                                              <p:pRg st="11" end="11"/>
                                            </p:txEl>
                                          </p:spTgt>
                                        </p:tgtEl>
                                      </p:cBhvr>
                                    </p:animEffect>
                                    <p:anim calcmode="lin" valueType="num">
                                      <p:cBhvr>
                                        <p:cTn id="80"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81"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par>
                          <p:cTn id="82" fill="hold">
                            <p:stCondLst>
                              <p:cond delay="12500"/>
                            </p:stCondLst>
                            <p:childTnLst>
                              <p:par>
                                <p:cTn id="83" presetID="42" presetClass="entr" presetSubtype="0" fill="hold" grpId="0" nodeType="afterEffect">
                                  <p:stCondLst>
                                    <p:cond delay="0"/>
                                  </p:stCondLst>
                                  <p:childTnLst>
                                    <p:set>
                                      <p:cBhvr>
                                        <p:cTn id="84" dur="1" fill="hold">
                                          <p:stCondLst>
                                            <p:cond delay="0"/>
                                          </p:stCondLst>
                                        </p:cTn>
                                        <p:tgtEl>
                                          <p:spTgt spid="7">
                                            <p:txEl>
                                              <p:pRg st="12" end="12"/>
                                            </p:txEl>
                                          </p:spTgt>
                                        </p:tgtEl>
                                        <p:attrNameLst>
                                          <p:attrName>style.visibility</p:attrName>
                                        </p:attrNameLst>
                                      </p:cBhvr>
                                      <p:to>
                                        <p:strVal val="visible"/>
                                      </p:to>
                                    </p:set>
                                    <p:animEffect transition="in" filter="fade">
                                      <p:cBhvr>
                                        <p:cTn id="85" dur="1000"/>
                                        <p:tgtEl>
                                          <p:spTgt spid="7">
                                            <p:txEl>
                                              <p:pRg st="12" end="12"/>
                                            </p:txEl>
                                          </p:spTgt>
                                        </p:tgtEl>
                                      </p:cBhvr>
                                    </p:animEffect>
                                    <p:anim calcmode="lin" valueType="num">
                                      <p:cBhvr>
                                        <p:cTn id="86"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87"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0" y="0"/>
            <a:ext cx="7632020" cy="830997"/>
          </a:xfrm>
        </p:spPr>
        <p:txBody>
          <a:bodyPr>
            <a:normAutofit fontScale="90000"/>
          </a:bodyPr>
          <a:lstStyle/>
          <a:p>
            <a:r>
              <a:rPr lang="en-GB" dirty="0"/>
              <a:t>RESULT 1 - </a:t>
            </a:r>
            <a:r>
              <a:rPr lang="en-IN" dirty="0"/>
              <a:t>Dataset Overview</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14250" y="6056421"/>
            <a:ext cx="8895212"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dirty="0">
                <a:hlinkClick r:id="rId3"/>
              </a:rPr>
              <a:t>https://github.com/Mubasheermohd18/car-market-trends-analysis</a:t>
            </a:r>
            <a:endParaRPr lang="en-GB" sz="2000" dirty="0"/>
          </a:p>
          <a:p>
            <a:endParaRPr lang="en-IN" sz="2000"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1" name="Picture 10">
            <a:extLst>
              <a:ext uri="{FF2B5EF4-FFF2-40B4-BE49-F238E27FC236}">
                <a16:creationId xmlns:a16="http://schemas.microsoft.com/office/drawing/2014/main" id="{9C4814DD-C50F-2DD6-14D5-FF42F533544D}"/>
              </a:ext>
            </a:extLst>
          </p:cNvPr>
          <p:cNvPicPr>
            <a:picLocks noChangeAspect="1"/>
          </p:cNvPicPr>
          <p:nvPr/>
        </p:nvPicPr>
        <p:blipFill>
          <a:blip r:embed="rId4"/>
          <a:stretch>
            <a:fillRect/>
          </a:stretch>
        </p:blipFill>
        <p:spPr>
          <a:xfrm>
            <a:off x="194829" y="830997"/>
            <a:ext cx="5534529" cy="4345577"/>
          </a:xfrm>
          <a:prstGeom prst="rect">
            <a:avLst/>
          </a:prstGeom>
        </p:spPr>
      </p:pic>
      <p:pic>
        <p:nvPicPr>
          <p:cNvPr id="13" name="Picture 12">
            <a:extLst>
              <a:ext uri="{FF2B5EF4-FFF2-40B4-BE49-F238E27FC236}">
                <a16:creationId xmlns:a16="http://schemas.microsoft.com/office/drawing/2014/main" id="{94385120-FF9A-C111-AD9A-593703B0AFAC}"/>
              </a:ext>
            </a:extLst>
          </p:cNvPr>
          <p:cNvPicPr>
            <a:picLocks noChangeAspect="1"/>
          </p:cNvPicPr>
          <p:nvPr/>
        </p:nvPicPr>
        <p:blipFill>
          <a:blip r:embed="rId5"/>
          <a:stretch>
            <a:fillRect/>
          </a:stretch>
        </p:blipFill>
        <p:spPr>
          <a:xfrm>
            <a:off x="6017474" y="830997"/>
            <a:ext cx="5534529" cy="434557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49285"/>
            <a:ext cx="9182146" cy="830997"/>
          </a:xfrm>
        </p:spPr>
        <p:txBody>
          <a:bodyPr>
            <a:normAutofit fontScale="90000"/>
          </a:bodyPr>
          <a:lstStyle/>
          <a:p>
            <a:r>
              <a:rPr lang="en-GB" dirty="0"/>
              <a:t>RESULT 2 - </a:t>
            </a:r>
            <a:r>
              <a:rPr lang="en-IN" dirty="0"/>
              <a:t>Market Segmentation</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9B4A24F-1958-1EAC-4E97-0F4035F895CB}"/>
              </a:ext>
            </a:extLst>
          </p:cNvPr>
          <p:cNvSpPr txBox="1">
            <a:spLocks/>
          </p:cNvSpPr>
          <p:nvPr/>
        </p:nvSpPr>
        <p:spPr>
          <a:xfrm>
            <a:off x="525406" y="6106597"/>
            <a:ext cx="904531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000" b="0" u="sng" dirty="0">
                <a:solidFill>
                  <a:srgbClr val="0070C0"/>
                </a:solidFill>
              </a:rPr>
              <a:t>https://github.com/Mubasheermohd18/car-market-trends-analysis</a:t>
            </a:r>
            <a:endParaRPr lang="en-IN" b="0" u="sng" dirty="0">
              <a:solidFill>
                <a:srgbClr val="0070C0"/>
              </a:solidFill>
            </a:endParaRPr>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A14AF54-0304-DCD2-9C5B-1A3ABB7244D7}"/>
              </a:ext>
            </a:extLst>
          </p:cNvPr>
          <p:cNvPicPr>
            <a:picLocks noChangeAspect="1"/>
          </p:cNvPicPr>
          <p:nvPr/>
        </p:nvPicPr>
        <p:blipFill>
          <a:blip r:embed="rId3"/>
          <a:stretch>
            <a:fillRect/>
          </a:stretch>
        </p:blipFill>
        <p:spPr>
          <a:xfrm>
            <a:off x="675957" y="970571"/>
            <a:ext cx="9757362" cy="508958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5E3EB-ECB6-2757-EEDB-F75AB66918E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F4527F-B4E8-C9DA-17D5-AF46B05D4FC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51FE455-0DCF-337B-D086-616D28C5DB79}"/>
              </a:ext>
            </a:extLst>
          </p:cNvPr>
          <p:cNvSpPr>
            <a:spLocks noGrp="1"/>
          </p:cNvSpPr>
          <p:nvPr>
            <p:ph type="title"/>
          </p:nvPr>
        </p:nvSpPr>
        <p:spPr>
          <a:xfrm>
            <a:off x="320982" y="233457"/>
            <a:ext cx="10880317" cy="830997"/>
          </a:xfrm>
        </p:spPr>
        <p:txBody>
          <a:bodyPr>
            <a:normAutofit fontScale="90000"/>
          </a:bodyPr>
          <a:lstStyle/>
          <a:p>
            <a:r>
              <a:rPr lang="en-GB" dirty="0"/>
              <a:t>RESULT 3 - </a:t>
            </a:r>
            <a:r>
              <a:rPr lang="en-US" dirty="0"/>
              <a:t>Present Price vs Selling Price</a:t>
            </a:r>
            <a:r>
              <a:rPr lang="en-GB" dirty="0"/>
              <a:t>  </a:t>
            </a:r>
            <a:endParaRPr lang="en-IN" dirty="0"/>
          </a:p>
        </p:txBody>
      </p:sp>
      <p:sp>
        <p:nvSpPr>
          <p:cNvPr id="7" name="Text Placeholder 30">
            <a:extLst>
              <a:ext uri="{FF2B5EF4-FFF2-40B4-BE49-F238E27FC236}">
                <a16:creationId xmlns:a16="http://schemas.microsoft.com/office/drawing/2014/main" id="{2A43BDE3-6EA5-2C2B-2A0B-E9D3C46FB7A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D8E05BB-7FDF-2281-7A25-37B7F69374C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2908660-F4E0-4485-94D9-38E918A2700D}"/>
              </a:ext>
            </a:extLst>
          </p:cNvPr>
          <p:cNvSpPr txBox="1">
            <a:spLocks/>
          </p:cNvSpPr>
          <p:nvPr/>
        </p:nvSpPr>
        <p:spPr>
          <a:xfrm>
            <a:off x="422959" y="5737443"/>
            <a:ext cx="10375670"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1600" dirty="0">
                <a:hlinkClick r:id="rId3"/>
              </a:rPr>
              <a:t>https://github.com/Mubasheermohd18/car-market-trends-analysis</a:t>
            </a:r>
            <a:endParaRPr lang="en-GB" sz="1600" dirty="0"/>
          </a:p>
          <a:p>
            <a:endParaRPr lang="en-IN" sz="1600" b="0" u="sng" dirty="0">
              <a:solidFill>
                <a:srgbClr val="0070C0"/>
              </a:solidFill>
            </a:endParaRPr>
          </a:p>
        </p:txBody>
      </p:sp>
      <p:sp>
        <p:nvSpPr>
          <p:cNvPr id="10" name="Text Placeholder 1">
            <a:extLst>
              <a:ext uri="{FF2B5EF4-FFF2-40B4-BE49-F238E27FC236}">
                <a16:creationId xmlns:a16="http://schemas.microsoft.com/office/drawing/2014/main" id="{B7269622-AE42-6060-9557-EA79F172477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2F69356B-047E-41E3-767D-ECE346ADA744}"/>
              </a:ext>
            </a:extLst>
          </p:cNvPr>
          <p:cNvPicPr>
            <a:picLocks noChangeAspect="1"/>
          </p:cNvPicPr>
          <p:nvPr/>
        </p:nvPicPr>
        <p:blipFill>
          <a:blip r:embed="rId4"/>
          <a:stretch>
            <a:fillRect/>
          </a:stretch>
        </p:blipFill>
        <p:spPr>
          <a:xfrm>
            <a:off x="455615" y="1064454"/>
            <a:ext cx="5333407" cy="4021352"/>
          </a:xfrm>
          <a:prstGeom prst="rect">
            <a:avLst/>
          </a:prstGeom>
        </p:spPr>
      </p:pic>
      <p:pic>
        <p:nvPicPr>
          <p:cNvPr id="12" name="Picture 11">
            <a:extLst>
              <a:ext uri="{FF2B5EF4-FFF2-40B4-BE49-F238E27FC236}">
                <a16:creationId xmlns:a16="http://schemas.microsoft.com/office/drawing/2014/main" id="{B876C36D-469F-5F43-F3C1-6F754BE4FDB1}"/>
              </a:ext>
            </a:extLst>
          </p:cNvPr>
          <p:cNvPicPr>
            <a:picLocks noChangeAspect="1"/>
          </p:cNvPicPr>
          <p:nvPr/>
        </p:nvPicPr>
        <p:blipFill>
          <a:blip r:embed="rId5"/>
          <a:stretch>
            <a:fillRect/>
          </a:stretch>
        </p:blipFill>
        <p:spPr>
          <a:xfrm>
            <a:off x="5923655" y="1064454"/>
            <a:ext cx="5333407" cy="4021352"/>
          </a:xfrm>
          <a:prstGeom prst="rect">
            <a:avLst/>
          </a:prstGeom>
        </p:spPr>
      </p:pic>
    </p:spTree>
    <p:extLst>
      <p:ext uri="{BB962C8B-B14F-4D97-AF65-F5344CB8AC3E}">
        <p14:creationId xmlns:p14="http://schemas.microsoft.com/office/powerpoint/2010/main" val="229558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par>
                          <p:cTn id="11" fill="hold">
                            <p:stCondLst>
                              <p:cond delay="1000"/>
                            </p:stCondLst>
                            <p:childTnLst>
                              <p:par>
                                <p:cTn id="12" presetID="42"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par>
                          <p:cTn id="17" fill="hold">
                            <p:stCondLst>
                              <p:cond delay="2000"/>
                            </p:stCondLst>
                            <p:childTnLst>
                              <p:par>
                                <p:cTn id="18" presetID="42" presetClass="entr" presetSubtype="0"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4D8D0-D28F-637C-918E-A2830438C91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CB98E08-595B-0DC2-F027-90CCF83EFAA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0D13FBF-4015-4633-437D-BCFD6C8E372C}"/>
              </a:ext>
            </a:extLst>
          </p:cNvPr>
          <p:cNvSpPr>
            <a:spLocks noGrp="1"/>
          </p:cNvSpPr>
          <p:nvPr>
            <p:ph type="title"/>
          </p:nvPr>
        </p:nvSpPr>
        <p:spPr>
          <a:xfrm>
            <a:off x="16968" y="77135"/>
            <a:ext cx="12401005" cy="830997"/>
          </a:xfrm>
        </p:spPr>
        <p:txBody>
          <a:bodyPr>
            <a:normAutofit fontScale="90000"/>
          </a:bodyPr>
          <a:lstStyle/>
          <a:p>
            <a:r>
              <a:rPr lang="en-GB" dirty="0"/>
              <a:t>RESULT 4 - </a:t>
            </a:r>
            <a:r>
              <a:rPr lang="en-US" dirty="0"/>
              <a:t>Manufacturing Year vs Selling Price</a:t>
            </a:r>
            <a:endParaRPr lang="en-IN" dirty="0"/>
          </a:p>
        </p:txBody>
      </p:sp>
      <p:sp>
        <p:nvSpPr>
          <p:cNvPr id="7" name="Text Placeholder 30">
            <a:extLst>
              <a:ext uri="{FF2B5EF4-FFF2-40B4-BE49-F238E27FC236}">
                <a16:creationId xmlns:a16="http://schemas.microsoft.com/office/drawing/2014/main" id="{032E29A5-3319-B449-9669-3187B0F3803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83478DE-A023-2AB0-1B38-F4BD0F48932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DF73715C-2580-A51D-7689-1F6CC960BCD9}"/>
              </a:ext>
            </a:extLst>
          </p:cNvPr>
          <p:cNvSpPr txBox="1">
            <a:spLocks/>
          </p:cNvSpPr>
          <p:nvPr/>
        </p:nvSpPr>
        <p:spPr>
          <a:xfrm>
            <a:off x="422959" y="5737443"/>
            <a:ext cx="7153498"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b="0" u="sng" dirty="0">
                <a:solidFill>
                  <a:srgbClr val="0070C0"/>
                </a:solidFill>
              </a:rPr>
              <a:t>https://github.com/Mubasheermohd18/car-market-trends-analysis</a:t>
            </a:r>
          </a:p>
        </p:txBody>
      </p:sp>
      <p:sp>
        <p:nvSpPr>
          <p:cNvPr id="10" name="Text Placeholder 1">
            <a:extLst>
              <a:ext uri="{FF2B5EF4-FFF2-40B4-BE49-F238E27FC236}">
                <a16:creationId xmlns:a16="http://schemas.microsoft.com/office/drawing/2014/main" id="{3223EE45-2BC7-2C9A-3A30-5AF7485F531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B400BD47-129B-9F7F-A4CA-DB02A5A7C160}"/>
              </a:ext>
            </a:extLst>
          </p:cNvPr>
          <p:cNvPicPr>
            <a:picLocks noChangeAspect="1"/>
          </p:cNvPicPr>
          <p:nvPr/>
        </p:nvPicPr>
        <p:blipFill>
          <a:blip r:embed="rId3"/>
          <a:stretch>
            <a:fillRect/>
          </a:stretch>
        </p:blipFill>
        <p:spPr>
          <a:xfrm>
            <a:off x="320982" y="992213"/>
            <a:ext cx="5529943" cy="3711913"/>
          </a:xfrm>
          <a:prstGeom prst="rect">
            <a:avLst/>
          </a:prstGeom>
        </p:spPr>
      </p:pic>
      <p:pic>
        <p:nvPicPr>
          <p:cNvPr id="12" name="Picture 11">
            <a:extLst>
              <a:ext uri="{FF2B5EF4-FFF2-40B4-BE49-F238E27FC236}">
                <a16:creationId xmlns:a16="http://schemas.microsoft.com/office/drawing/2014/main" id="{0F49D14D-CEB9-0A3C-607D-62E7B71C671A}"/>
              </a:ext>
            </a:extLst>
          </p:cNvPr>
          <p:cNvPicPr>
            <a:picLocks noChangeAspect="1"/>
          </p:cNvPicPr>
          <p:nvPr/>
        </p:nvPicPr>
        <p:blipFill>
          <a:blip r:embed="rId4"/>
          <a:stretch>
            <a:fillRect/>
          </a:stretch>
        </p:blipFill>
        <p:spPr>
          <a:xfrm>
            <a:off x="6017474" y="992213"/>
            <a:ext cx="5529943" cy="3711913"/>
          </a:xfrm>
          <a:prstGeom prst="rect">
            <a:avLst/>
          </a:prstGeom>
        </p:spPr>
      </p:pic>
    </p:spTree>
    <p:extLst>
      <p:ext uri="{BB962C8B-B14F-4D97-AF65-F5344CB8AC3E}">
        <p14:creationId xmlns:p14="http://schemas.microsoft.com/office/powerpoint/2010/main" val="1878387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2B70F-074C-6497-4165-22A764F34E0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DA5908-FC64-475F-ABC5-4E4EFEB25B3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C180BB-1429-B86C-7B6E-12D6D4DD2815}"/>
              </a:ext>
            </a:extLst>
          </p:cNvPr>
          <p:cNvSpPr>
            <a:spLocks noGrp="1"/>
          </p:cNvSpPr>
          <p:nvPr>
            <p:ph type="title"/>
          </p:nvPr>
        </p:nvSpPr>
        <p:spPr>
          <a:xfrm>
            <a:off x="16968" y="77135"/>
            <a:ext cx="12401005" cy="830997"/>
          </a:xfrm>
        </p:spPr>
        <p:txBody>
          <a:bodyPr>
            <a:normAutofit/>
          </a:bodyPr>
          <a:lstStyle/>
          <a:p>
            <a:r>
              <a:rPr lang="en-GB" sz="4300" dirty="0"/>
              <a:t>RESULT 5 - </a:t>
            </a:r>
            <a:r>
              <a:rPr lang="en-IN" sz="4300" dirty="0"/>
              <a:t>Correlation Analysis</a:t>
            </a:r>
          </a:p>
        </p:txBody>
      </p:sp>
      <p:sp>
        <p:nvSpPr>
          <p:cNvPr id="7" name="Text Placeholder 30">
            <a:extLst>
              <a:ext uri="{FF2B5EF4-FFF2-40B4-BE49-F238E27FC236}">
                <a16:creationId xmlns:a16="http://schemas.microsoft.com/office/drawing/2014/main" id="{6F9ABED9-1213-8F0D-3AC5-71EFD5C8558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CCCCBD0-DC6A-024A-12F0-54E2161D622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8912F54-3419-76D9-70E8-C9A8425CD3FB}"/>
              </a:ext>
            </a:extLst>
          </p:cNvPr>
          <p:cNvSpPr txBox="1">
            <a:spLocks/>
          </p:cNvSpPr>
          <p:nvPr/>
        </p:nvSpPr>
        <p:spPr>
          <a:xfrm>
            <a:off x="422959" y="5737443"/>
            <a:ext cx="7510550"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1800" b="0" u="sng" dirty="0">
                <a:solidFill>
                  <a:srgbClr val="0070C0"/>
                </a:solidFill>
              </a:rPr>
              <a:t>https://github.com/Mubasheermohd18/car-market-trends-analysis</a:t>
            </a:r>
          </a:p>
        </p:txBody>
      </p:sp>
      <p:sp>
        <p:nvSpPr>
          <p:cNvPr id="10" name="Text Placeholder 1">
            <a:extLst>
              <a:ext uri="{FF2B5EF4-FFF2-40B4-BE49-F238E27FC236}">
                <a16:creationId xmlns:a16="http://schemas.microsoft.com/office/drawing/2014/main" id="{DDB257E3-6835-C755-1C3E-6642F4950FC4}"/>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04CD47C8-BBCB-8F50-96C3-93739D2D3217}"/>
              </a:ext>
            </a:extLst>
          </p:cNvPr>
          <p:cNvPicPr>
            <a:picLocks noChangeAspect="1"/>
          </p:cNvPicPr>
          <p:nvPr/>
        </p:nvPicPr>
        <p:blipFill>
          <a:blip r:embed="rId3"/>
          <a:stretch>
            <a:fillRect/>
          </a:stretch>
        </p:blipFill>
        <p:spPr>
          <a:xfrm>
            <a:off x="243241" y="1081384"/>
            <a:ext cx="5774233" cy="3931125"/>
          </a:xfrm>
          <a:prstGeom prst="rect">
            <a:avLst/>
          </a:prstGeom>
        </p:spPr>
      </p:pic>
      <p:pic>
        <p:nvPicPr>
          <p:cNvPr id="13" name="Picture 12">
            <a:extLst>
              <a:ext uri="{FF2B5EF4-FFF2-40B4-BE49-F238E27FC236}">
                <a16:creationId xmlns:a16="http://schemas.microsoft.com/office/drawing/2014/main" id="{28EAC620-5959-6F45-7037-4E8FF6E89F50}"/>
              </a:ext>
            </a:extLst>
          </p:cNvPr>
          <p:cNvPicPr>
            <a:picLocks noChangeAspect="1"/>
          </p:cNvPicPr>
          <p:nvPr/>
        </p:nvPicPr>
        <p:blipFill>
          <a:blip r:embed="rId4"/>
          <a:stretch>
            <a:fillRect/>
          </a:stretch>
        </p:blipFill>
        <p:spPr>
          <a:xfrm>
            <a:off x="6174528" y="1081384"/>
            <a:ext cx="5774233" cy="3931126"/>
          </a:xfrm>
          <a:prstGeom prst="rect">
            <a:avLst/>
          </a:prstGeom>
        </p:spPr>
      </p:pic>
    </p:spTree>
    <p:extLst>
      <p:ext uri="{BB962C8B-B14F-4D97-AF65-F5344CB8AC3E}">
        <p14:creationId xmlns:p14="http://schemas.microsoft.com/office/powerpoint/2010/main" val="105108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1000"/>
                                        <p:tgtEl>
                                          <p:spTgt spid="4"/>
                                        </p:tgtEl>
                                      </p:cBhvr>
                                    </p:animEffect>
                                  </p:childTnLst>
                                </p:cTn>
                              </p:par>
                            </p:childTnLst>
                          </p:cTn>
                        </p:par>
                        <p:par>
                          <p:cTn id="8" fill="hold">
                            <p:stCondLst>
                              <p:cond delay="1000"/>
                            </p:stCondLst>
                            <p:childTnLst>
                              <p:par>
                                <p:cTn id="9" presetID="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par>
                          <p:cTn id="13" fill="hold">
                            <p:stCondLst>
                              <p:cond delay="1500"/>
                            </p:stCondLst>
                            <p:childTnLst>
                              <p:par>
                                <p:cTn id="14" presetID="2" presetClass="entr" presetSubtype="1"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81985"/>
            <a:ext cx="11340000" cy="700114"/>
          </a:xfrm>
          <a:prstGeom prst="rect">
            <a:avLst/>
          </a:prstGeom>
        </p:spPr>
        <p:txBody>
          <a:bodyPr anchor="ctr">
            <a:noAutofit/>
          </a:bodyPr>
          <a:lstStyle/>
          <a:p>
            <a:pPr algn="ctr"/>
            <a:r>
              <a:rPr lang="en-US" sz="66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633503" y="5702986"/>
            <a:ext cx="2139696" cy="193040"/>
          </a:xfrm>
        </p:spPr>
        <p:txBody>
          <a:bodyPr>
            <a:normAutofit fontScale="400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655</TotalTime>
  <Words>561</Words>
  <Application>Microsoft Office PowerPoint</Application>
  <PresentationFormat>Widescreen</PresentationFormat>
  <Paragraphs>47</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Trebuchet MS</vt:lpstr>
      <vt:lpstr>Wingdings</vt:lpstr>
      <vt:lpstr>Wingdings 3</vt:lpstr>
      <vt:lpstr>Facet</vt:lpstr>
      <vt:lpstr>Project Title - Car Market Trends Analysis with CarDekho Data</vt:lpstr>
      <vt:lpstr>PROBLEM  STATEMENT</vt:lpstr>
      <vt:lpstr>Project Description  </vt:lpstr>
      <vt:lpstr>WHO ARE THE END USERS?</vt:lpstr>
      <vt:lpstr>Technology Used</vt:lpstr>
      <vt:lpstr>RESULT 1 - Dataset Overview</vt:lpstr>
      <vt:lpstr>RESULT 2 - Market Segmentation </vt:lpstr>
      <vt:lpstr>RESULT 3 - Present Price vs Selling Price  </vt:lpstr>
      <vt:lpstr>RESULT 4 - Manufacturing Year vs Selling Price</vt:lpstr>
      <vt:lpstr>RESULT 5 - Correlation Analysis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Mohammed Mubasheeruddin</cp:lastModifiedBy>
  <cp:revision>82</cp:revision>
  <dcterms:created xsi:type="dcterms:W3CDTF">2021-07-11T13:13:15Z</dcterms:created>
  <dcterms:modified xsi:type="dcterms:W3CDTF">2026-08-30T15:28:06Z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